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個性地下城：人格 × 演化 × 遊戲系統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Dynamic AI Ecology System | 新組員導覽完整版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017520" cy="13716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玩家</a:t>
            </a:r>
            <a:br/>
            <a:r>
              <a:t>Individual Evolver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828800"/>
            <a:ext cx="3017520" cy="13716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地下城</a:t>
            </a:r>
            <a:br/>
            <a:r>
              <a:t>Personality Testbed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828800"/>
            <a:ext cx="3017520" cy="13716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小火龍</a:t>
            </a:r>
            <a:br/>
            <a:r>
              <a:t>Meta Controller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86200" y="2240280"/>
            <a:ext cx="59436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7543800" y="2240280"/>
            <a:ext cx="59436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作者：研究小組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日期：2026-04-17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關鍵主題：Level 2 plateau 與 Level 3 emergence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一句話理解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玩家在學習，但世界也在學習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8521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Microsoft JhengHei"/>
              </a:defRPr>
            </a:pPr>
            <a:r>
              <a:t>玩家 = 個體演化單元（strategy selection + utility update）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Microsoft JhengHei"/>
              </a:defRPr>
            </a:pPr>
            <a:r>
              <a:t>地下城 = 人格測試場（payoff feedback）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Microsoft JhengHei"/>
              </a:defRPr>
            </a:pPr>
            <a:r>
              <a:t>小火龍 = 世界壓力生成器（反收斂干預）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840480" cy="100584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108960"/>
            <a:ext cx="3840480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389120"/>
            <a:ext cx="384048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小火龍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玩家如何遊玩：核心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選擇策略 → 挑戰 → 回饋 → 人格更新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011680" cy="109728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1. 選擇策略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2880360"/>
            <a:ext cx="50292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63239" y="2560320"/>
            <a:ext cx="2011680" cy="109728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2. 挑戰地下城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20640" y="2880360"/>
            <a:ext cx="50292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94959" y="2560320"/>
            <a:ext cx="2011680" cy="109728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3. 成功/失敗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59" y="2880360"/>
            <a:ext cx="50292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2560320"/>
            <a:ext cx="2011680" cy="109728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4. 權重更新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84080" y="2880360"/>
            <a:ext cx="50292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0" y="2560320"/>
            <a:ext cx="2011680" cy="109728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5. 進入下一輪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每輪都會留下可分析的 timeseries 資料：p_*、w_*、avg_reward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挑戰機制：玩家 A 挑戰玩家 B 的地下城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22860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玩家 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383280" y="2423160"/>
            <a:ext cx="91440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2926080" cy="12801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玩家 B 地下城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35240" y="2423160"/>
            <a:ext cx="91440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32520" y="1645920"/>
            <a:ext cx="246888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成功</a:t>
            </a:r>
            <a:br/>
            <a:r>
              <a:t>樣本+金幣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017520"/>
            <a:ext cx="246888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失敗</a:t>
            </a:r>
            <a:br/>
            <a:r>
              <a:t>三層損失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Microsoft JhengHei"/>
              </a:defRPr>
            </a:pPr>
            <a:r>
              <a:t>失敗 = 三層損失：經濟層（金幣消耗）、學習層（樣本外流）、動力學層（權重劣化）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Microsoft JhengHei"/>
              </a:defRPr>
            </a:pPr>
            <a:r>
              <a:t>這三層分別對應：經濟模型 / 資訊模型 / replicator 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數學如何對應玩家行為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把 U = A x 直接對回 gameplay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7432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x(t)</a:t>
            </a:r>
            <a:br/>
            <a:r>
              <a:t>玩家策略比例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57600" y="2103120"/>
            <a:ext cx="64008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828800"/>
            <a:ext cx="27432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U = A x</a:t>
            </a:r>
            <a:br/>
            <a:r>
              <a:t>地下城 reward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0" y="2103120"/>
            <a:ext cx="64008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10896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reward 高</a:t>
            </a:r>
            <a:br/>
            <a:r>
              <a:t>該策略玩家變多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69280" y="3063240"/>
            <a:ext cx="64008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3657600"/>
            <a:ext cx="3108960" cy="100584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分布改變</a:t>
            </a:r>
            <a:br/>
            <a:r>
              <a:t>下一輪 reward 改變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10241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核心直覺：玩家在玩遊戲，同時也在解一個延遲動態方程。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這就是遊戲層、數學層、演化層的共同語言。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地下城的本質：人格外化測試場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283464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人格向量</a:t>
            </a:r>
            <a:br/>
            <a:r>
              <a:t>+ 偏好結構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60520" y="2240280"/>
            <a:ext cx="86868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0" y="1920240"/>
            <a:ext cx="2834640" cy="109728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生成地下城規則</a:t>
            </a:r>
            <a:br/>
            <a:r>
              <a:t>事件/風險/回饋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275320" y="2240280"/>
            <a:ext cx="868680" cy="41148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1920240"/>
            <a:ext cx="1828800" cy="109728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玩家體驗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不是傳統關卡腳本，而是『人格在環境中的可計算投影』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可作為研究：策略偏好如何塑造可玩與可學習的世界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小火龍（Meta GAI）：維持多樣性與壓力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65836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全局分析：人格分布、勝率地圖、策略流行度、多樣性指標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變異生成：事件模板、高難度地下城、風險模型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壓力輸出：反收斂干預，避免單一策略壟斷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數學化理解：小火龍 ≈ 動態修改 payoff structure 的外部控制器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2194560"/>
            <a:ext cx="3108960" cy="109728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小火龍控制器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840480"/>
            <a:ext cx="16459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玩家A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3840480"/>
            <a:ext cx="16459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玩家B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846320"/>
            <a:ext cx="16459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玩家C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8138160" y="3291840"/>
            <a:ext cx="109728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35440" y="3291840"/>
            <a:ext cx="73152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52560" y="3291840"/>
            <a:ext cx="182880" cy="155448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圖例（Legend）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統一顏色語意，降低理解成本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藍：玩家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274320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綠：地下城/正向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27432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黃：小火龍/控制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274320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紅：風險/失敗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017520"/>
            <a:ext cx="27432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灰：中性流程元件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報告期間請盡量保持此顏色語意一致，避免跨頁切換時的認知成本。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數學模型 I：狀態表示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5760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狀態向量：x(t) = (x_A, x_D, x_B)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約束：x_A + x_D + x_B = 1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策略：aggressive / defensive / balanced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資料來源：每輪抽樣比例 p_*（timeseries CSV）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7315200" y="1920240"/>
            <a:ext cx="3931920" cy="3474720"/>
          </a:xfrm>
          <a:prstGeom prst="triangle">
            <a:avLst/>
          </a:prstGeom>
          <a:solidFill>
            <a:srgbClr val="E0F2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0" y="5029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5029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數學模型 II：Payoff 機制（矩陣）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029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Microsoft JhengHei"/>
              </a:defRPr>
            </a:pPr>
            <a:r>
              <a:t>核心方程：U = A x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Microsoft JhengHei"/>
              </a:defRPr>
            </a:pPr>
            <a:r>
              <a:t>其中 A 為循環對抗矩陣（RPS-like）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51760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F172A"/>
                </a:solidFill>
                <a:latin typeface="Consolas"/>
              </a:defRPr>
            </a:pPr>
            <a:r>
              <a:t>A = [ 0   a  -b ]</a:t>
            </a:r>
            <a:br/>
            <a:r>
              <a:t>    [ -b  0   a ]</a:t>
            </a:r>
            <a:br/>
            <a:r>
              <a:t>    [ a  -b  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920240"/>
            <a:ext cx="118872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1920240"/>
            <a:ext cx="118872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4023360"/>
            <a:ext cx="1188720" cy="73152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32520" y="2606040"/>
            <a:ext cx="1463040" cy="320040"/>
          </a:xfrm>
          <a:prstGeom prst="rightArrow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9464040" y="3337560"/>
            <a:ext cx="-1463040" cy="320040"/>
          </a:xfrm>
          <a:prstGeom prst="rightArrow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001000" y="3337560"/>
            <a:ext cx="1463040" cy="320040"/>
          </a:xfrm>
          <a:prstGeom prst="rightArrow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直覺：A 克 D、D 克 B、B 克 A，促進旋轉而非靜態均衡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為什麼會振盪？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27432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循環 payoff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274320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1-step delay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274320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有限抽樣噪音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03320" y="2286000"/>
            <a:ext cx="59436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178040" y="2286000"/>
            <a:ext cx="59436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reward(t) 依賴上一輪分布，形成延遲回饋路徑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離散樣本 + 延遲常把理想封閉軌道變成近似振盪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結果：Level 2 容易觀測，Level 3 較難穩定成立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演化更新規則（Replicator-like）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  <a:latin typeface="Consolas"/>
              </a:defRPr>
            </a:pPr>
            <a:r>
              <a:t>w_s = exp(k * (u_s_bar - u_bar))，再 normalize 到 mean(weight)=1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selection_strength (k) 越大，反應越硬，可能放大振盪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exp 形式確保權重為正，避免負權重問題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對應程式層：evolution/replicator_dynamics.py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011680"/>
            <a:ext cx="3291840" cy="100584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表現好：權重上升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383280"/>
            <a:ext cx="3291840" cy="100584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表現差：權重下降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經濟模型：資本流、資訊流、壓力流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017520" cy="109728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金幣</a:t>
            </a:r>
            <a:br/>
            <a:r>
              <a:t>行動權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01752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樣本</a:t>
            </a:r>
            <a:br/>
            <a:r>
              <a:t>學習能力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920240"/>
            <a:ext cx="301752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環境壓力</a:t>
            </a:r>
            <a:br/>
            <a:r>
              <a:t>選擇方向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2240280"/>
            <a:ext cx="50292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635240" y="2240280"/>
            <a:ext cx="502920" cy="36576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資源三句話：誰能動（行動權）、怎麼動（學習能力）、往哪動（選擇方向）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金幣不直接進演化方程；樣本與壓力才決定動力學形狀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失敗成本的精確定義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Failure = 經濟 + 學習 + 動力學 三層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47472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① 經濟層</a:t>
            </a:r>
            <a:br/>
            <a:r>
              <a:t>金幣消耗 → 行動能力下降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920240"/>
            <a:ext cx="347472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② 學習層</a:t>
            </a:r>
            <a:br/>
            <a:r>
              <a:t>高價值樣本外流給對手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47472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③ 動力學層</a:t>
            </a:r>
            <a:br/>
            <a:r>
              <a:t>自身權重受 replicator 拉低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這個三層框架讓 gameplay、經濟、數學可在同一張圖對齊。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也能直接對應實驗指標：資源、樣本、stage score 的變化。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完整整合循環（微觀 → 中觀 → 宏觀）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194560"/>
            <a:ext cx="201168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玩家行為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194560"/>
            <a:ext cx="201168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產生樣本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194560"/>
            <a:ext cx="201168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小火龍分析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194560"/>
            <a:ext cx="2011680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生成地下城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194560"/>
            <a:ext cx="201168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玩家適應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71800" y="2423160"/>
            <a:ext cx="18288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257800" y="2423160"/>
            <a:ext cx="18288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43800" y="2423160"/>
            <a:ext cx="18288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829800" y="2423160"/>
            <a:ext cx="18288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828800" y="3154680"/>
            <a:ext cx="9144000" cy="18745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這是一個閉環 AI 生態系：行為會改變世界，世界也會反向塑造行為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為什麼系統不易收斂？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可視為不收斂的三個必要條件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108960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1. 無單一最優解</a:t>
            </a:r>
            <a:br/>
            <a:r>
              <a:t>(cyclic payoff)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108960" cy="100584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2. 環境會反應</a:t>
            </a:r>
            <a:br/>
            <a:r>
              <a:t>(Meta GAI)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108960" cy="100584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3. 玩家不一致</a:t>
            </a:r>
            <a:br/>
            <a:r>
              <a:t>(heterogeneity)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三層共同作用形成 Dynamic Equilibrium，而非單點靜態均衡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研究重點不是找到唯一最優策略，而是理解吸引子結構如何轉移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這個系統像什麼？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跨領域對照：快速定位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846320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演化博弈：replicator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4846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強化學習：policy-weight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84632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經濟學：市場競爭 + 資訊流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48463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控制系統：feedback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Microsoft JhengHei"/>
              </a:defRPr>
            </a:pPr>
            <a:r>
              <a:t>這頁用途：讓教授與跨域組員在 30 秒內知道它不是單一學門問題。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循環分級指標（研究契約）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6400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0：無循環訊號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1：有振幅（Amplitude）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2：振幅 + 主頻（Autocorr Dominant Frequency）</a:t>
            </a:r>
          </a:p>
          <a:p>
            <a:pPr>
              <a:spcAft>
                <a:spcPts val="10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3：方向一致（Stage3 Phase Direction Consistency）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4747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Stage 1: Amplitude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926080"/>
            <a:ext cx="34747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Stage 2: Dominant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023360"/>
            <a:ext cx="347472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Stage 3: Rotation 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目前實驗結果（對齊研發日誌）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6949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大量條件下可穩定觀測 Level 2（振盪存在）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Level 3 在 formal multi-seed protocol 幾乎為 0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W2.1R、W3.1、W3.2、W3.3 全線 closure：未出現可承認 Level 3 seeds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B4/B3/B5 進一步支持：局部機制有反應，但不足以改變 attractor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920240"/>
            <a:ext cx="2560320" cy="91440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Level 2</a:t>
            </a:r>
            <a:br/>
            <a:r>
              <a:t>大量存在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3108960"/>
            <a:ext cx="2560320" cy="91440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Level 3</a:t>
            </a:r>
            <a:br/>
            <a:r>
              <a:t>幾乎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4297680"/>
            <a:ext cx="256032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結論</a:t>
            </a:r>
            <a:br/>
            <a:r>
              <a:t>Plateau 穩固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Level 2 vs Level 3：直覺圖像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5212080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Level 2：有振盪，但方向不穩定（亂晃）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212080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Level 3：方向一致的穩定旋轉（順/逆時針）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743200"/>
            <a:ext cx="3474720" cy="2194560"/>
          </a:xfrm>
          <a:prstGeom prst="ellipse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0" y="2743200"/>
            <a:ext cx="3474720" cy="2194560"/>
          </a:xfrm>
          <a:prstGeom prst="ellipse">
            <a:avLst/>
          </a:prstGeom>
          <a:solidFill>
            <a:srgbClr val="DCFCE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1920240" y="3383280"/>
            <a:ext cx="91440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834640" y="3840480"/>
            <a:ext cx="-64008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657600" y="3383280"/>
            <a:ext cx="64008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046720" y="3566160"/>
            <a:ext cx="1828800" cy="32004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Microsoft JhengHei"/>
              </a:defRPr>
            </a:pPr>
            <a:r>
              <a:t>研究核心問題：我們目前大量到達 Level 2，但尚未把旋轉方向長窗鎖定到 Level 3。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目前瓶頸：為什麼卡在 Level 2 Plateau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2103120"/>
            <a:ext cx="3200400" cy="100584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記憶太短</a:t>
            </a:r>
            <a:br/>
            <a:r>
              <a:t>(主要是 1-step lag)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103120"/>
            <a:ext cx="3200400" cy="100584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更新仍偏均化</a:t>
            </a:r>
            <a:br/>
            <a:r>
              <a:t>(shared update pressure)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103120"/>
            <a:ext cx="3200400" cy="100584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相位方向難鎖定</a:t>
            </a:r>
            <a:br/>
            <a:r>
              <a:t>(score 無法長窗穩定)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已排除：單純調 a/b、固定 commitment、hysteresis、pulse 等修補路線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現階段最可能是結構性問題：需要能改寫 basin topology 的新機制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下一步研發主線（H-series）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383280" cy="12801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H1 記憶機制</a:t>
            </a:r>
            <a:br/>
            <a:r>
              <a:t>多輪歷史與慣性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011680"/>
            <a:ext cx="3383280" cy="12801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H2 非線性世界</a:t>
            </a:r>
            <a:br/>
            <a:r>
              <a:t>threshold/regime 切換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383280" cy="12801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H3 異質玩家</a:t>
            </a:r>
            <a:br/>
            <a:r>
              <a:t>不同學習速率/族群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目標：不再做局部 tuning，而是改變相位幾何與吸引子結構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驗證標準：multi-seed Level 3 + stage3 score + env_gamma 一致提升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可拆分的大工作區塊（建議分工）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5303520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Block 1</a:t>
            </a:r>
            <a:br/>
            <a:r>
              <a:t>核心模擬引擎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737360"/>
            <a:ext cx="49377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F172A"/>
                </a:solidFill>
                <a:latin typeface="Microsoft JhengHei"/>
              </a:defRPr>
            </a:pPr>
            <a:r>
              <a:t>core/ players/ dungeon/ evolution/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5303520" cy="8229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Block 2</a:t>
            </a:r>
            <a:br/>
            <a:r>
              <a:t>實驗與掃參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697480"/>
            <a:ext cx="49377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F172A"/>
                </a:solidFill>
                <a:latin typeface="Microsoft JhengHei"/>
              </a:defRPr>
            </a:pPr>
            <a:r>
              <a:t>simulation/ scripts/ outputs/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5303520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Block 3</a:t>
            </a:r>
            <a:br/>
            <a:r>
              <a:t>分析指標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657600"/>
            <a:ext cx="49377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F172A"/>
                </a:solidFill>
                <a:latin typeface="Microsoft JhengHei"/>
              </a:defRPr>
            </a:pPr>
            <a:r>
              <a:t>analysis/ cycle metrics/ plotting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17720"/>
            <a:ext cx="5303520" cy="82296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Block 4</a:t>
            </a:r>
            <a:br/>
            <a:r>
              <a:t>機制設計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617720"/>
            <a:ext cx="49377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F172A"/>
                </a:solidFill>
                <a:latin typeface="Microsoft JhengHei"/>
              </a:defRPr>
            </a:pPr>
            <a:r>
              <a:t>H-series / policy / new dynamics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530352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Block 5</a:t>
            </a:r>
            <a:br/>
            <a:r>
              <a:t>敘事產品化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577840"/>
            <a:ext cx="493776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0F172A"/>
                </a:solidFill>
                <a:latin typeface="Microsoft JhengHei"/>
              </a:defRPr>
            </a:pPr>
            <a:r>
              <a:t>docs/ story/ UI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開發與研究契約（SDD 必守）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高密度內容示範：超過 4 行自動分頁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先 Spec 後改碼：變更行為契約必先更新 SDD.md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分層不變條件：analysis 不反向依賴 simulation；evolution 不做 I/O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所有可重現命令在 venv：./venv/bin/python -m ...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輸出契約固定：timeseries CSV 欄位與 burn-in/tail 視窗語意一致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開發與研究契約（SDD 必守）（續）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高密度內容示範：超過 4 行自動分頁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424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研究結論以 研發日誌.md 與 outputs/ 產物交叉驗證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icrosoft JhengHei"/>
              </a:defRPr>
            </a:pPr>
            <a:r>
              <a:t>最終總結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78992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7490"/>
                </a:solidFill>
                <a:latin typeface="Microsoft JhengHei"/>
              </a:defRPr>
            </a:pPr>
            <a:r>
              <a:t>這是一個永遠不會輕易收斂的 AI 生態系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241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  <a:latin typeface="Microsoft JhengHei"/>
              </a:defRPr>
            </a:pPr>
            <a:r>
              <a:t>玩家在學習，世界也在學習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  <a:latin typeface="Microsoft JhengHei"/>
              </a:defRPr>
            </a:pPr>
            <a:r>
              <a:t>地下城不是靜態關卡，而是人格互動的動態投影</a:t>
            </a:r>
          </a:p>
          <a:p>
            <a:pPr>
              <a:spcAft>
                <a:spcPts val="1000"/>
              </a:spcAft>
              <a:defRPr sz="2400">
                <a:solidFill>
                  <a:srgbClr val="1E293B"/>
                </a:solidFill>
                <a:latin typeface="Microsoft JhengHei"/>
              </a:defRPr>
            </a:pPr>
            <a:r>
              <a:t>目前已證明 plateau 穩固；下一步是結構性突破而非局部調參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663440"/>
            <a:ext cx="6766560" cy="109728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  <a:latin typeface="Microsoft JhengHei"/>
              </a:defRPr>
            </a:pPr>
            <a:r>
              <a:t>Q&amp;A | 可接續：15 分鐘版、30 分鐘版、分工版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Personality Dungeon | Onboarding Deck | p.26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